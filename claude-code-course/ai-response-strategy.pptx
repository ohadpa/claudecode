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 Chat Response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7AFF"/>
                </a:solidFill>
                <a:latin typeface="Calibri"/>
              </a:defRPr>
            </a:pPr>
            <a:r>
              <a:t>TaskFlow Assist: Competitive Threat Response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Prepared for Sarah Chen (CEO), Mike Rodriguez (CTO), Alex Kim (Head of Design)</a:t>
            </a:r>
            <a:br/>
            <a:r>
              <a:t>February 2026  |  Product Strategy Team  |  Draft — Pending Executive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libri"/>
              </a:defRPr>
            </a:pPr>
            <a:r>
              <a:t>A competitor launched "Chat with your to-do list AI." Our analysis of 5 competitors reveals no one has built conversational AI purpose-built for remote teams. This is our opening.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329184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3291840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FF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Calibri"/>
              </a:defRPr>
            </a:pPr>
            <a:r>
              <a:t>Differentiate, don't match.</a:t>
            </a:r>
            <a:br/>
            <a:r>
              <a:t>Build AI for remote teams,</a:t>
            </a:r>
            <a:br/>
            <a:r>
              <a:t>not a generic chatbot.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560320"/>
            <a:ext cx="329184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560320"/>
            <a:ext cx="3291840" cy="73152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832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Calibri"/>
              </a:defRPr>
            </a:pPr>
            <a:r>
              <a:t>TaskFlow Assist — AI that</a:t>
            </a:r>
            <a:br/>
            <a:r>
              <a:t>answers questions AND</a:t>
            </a:r>
            <a:br/>
            <a:r>
              <a:t>takes actions on your Workspace.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560320"/>
            <a:ext cx="329184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560320"/>
            <a:ext cx="329184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Calibri"/>
              </a:defRPr>
            </a:pPr>
            <a:r>
              <a:t>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832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Calibri"/>
              </a:defRPr>
            </a:pPr>
            <a:r>
              <a:t>3-phase, 14-week roadmap.</a:t>
            </a:r>
            <a:br/>
            <a:r>
              <a:t>3 engineers. ~$150K.</a:t>
            </a:r>
            <a:br/>
            <a:r>
              <a:t>Phase 1 ships in 4 weeks.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FF"/>
                </a:solidFill>
                <a:latin typeface="Calibri"/>
              </a:defRPr>
            </a:pPr>
            <a:r>
              <a:t>Expected impact: 30% faster activation  |  15% higher Week-2 retention  |  Defensible competitive moat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Competitive Landscape: AI Chat Features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1463040"/>
                <a:gridCol w="1463040"/>
                <a:gridCol w="1463040"/>
                <a:gridCol w="146304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Asana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Monday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ClickUp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Notion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Linear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TaskFlow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AI Chat / Conversational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NL Task Creation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AI Can Take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Yes (Agents)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Built-in Chat/Messaging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AI Included in Base 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Remote Team Focus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Eng only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Where Competitors Are Weak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" cy="7315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No one owns "AI for Remote Teams"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  <a:latin typeface="Calibri"/>
              </a:defRPr>
            </a:pPr>
            <a:r>
              <a:t>Every competitor treats AI as a generic productivity layer. None position for distributed teams.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73152" cy="7315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Chat + Tasks + AI is fragmented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  <a:latin typeface="Calibri"/>
              </a:defRPr>
            </a:pPr>
            <a:r>
              <a:t>ClickUp is closest but overwhelming. Monday's chat is read-only. Asana agents lack a chat UI.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73152" cy="7315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AI context is siloed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49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  <a:latin typeface="Calibri"/>
              </a:defRPr>
            </a:pPr>
            <a:r>
              <a:t>Competitors' AI only sees their own data. Remote teams live across 5-10 tools.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73152" cy="7315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Pricing creates barriers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  <a:latin typeface="Calibri"/>
              </a:defRPr>
            </a:pPr>
            <a:r>
              <a:t>Most gate AI behind $19-26/user/mo. Affordable AI is a differentiation lever for SMBs.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94960"/>
            <a:ext cx="73152" cy="7315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Conversational AI is read-only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  <a:latin typeface="Calibri"/>
              </a:defRPr>
            </a:pPr>
            <a:r>
              <a:t>"Ask monday" and Notion AI Q&amp;A can answer but cannot act. Query + act is unsolved.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Strategic Positioning: Differentiate, Don't Match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Pros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Cons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Match (copycat)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Fast to market, reduces 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No differentiation, parity race, expensive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Differentiate (Recommended)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Unique, defensible, brand-aligned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Slightly slower initial launch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Why differentiate?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TaskFlow's DNA is "Asana meets Jira for remote teams" — our AI must reinforce this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A me-too feature doesn't move the needle at $2.5M ARR (Series B)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Our personas have remote-specific pain points generic AI chat doesn't solve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105156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73152" cy="1188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Positioning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406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Calibri"/>
              </a:defRPr>
            </a:pPr>
            <a:r>
              <a:t>TaskFlow Assist: The first AI assistant built for remote teams. It doesn't just answer questions — it understands timezones, async workflows, and collaboration patterns to keep distributed work moving.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TaskFlow Assist: Use Cases by Persona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FF"/>
                </a:solidFill>
                <a:latin typeface="Calibri"/>
              </a:defRPr>
            </a:pPr>
            <a:r>
              <a:t>Mike — IC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"What should I work on next?"</a:t>
            </a:r>
          </a:p>
          <a:p>
            <a:pPr>
              <a:spcAft>
                <a:spcPts val="14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"Summarize what happened while I was offline"</a:t>
            </a:r>
          </a:p>
          <a:p>
            <a:pPr>
              <a:spcAft>
                <a:spcPts val="14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"Create a Task for the auth bug from Slack"</a:t>
            </a:r>
          </a:p>
          <a:p>
            <a:pPr>
              <a:spcAft>
                <a:spcPts val="14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Quick actions via chat, keyboard-first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47472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474720" cy="73152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7B"/>
                </a:solidFill>
                <a:latin typeface="Calibri"/>
              </a:defRPr>
            </a:pPr>
            <a:r>
              <a:t>Alex — Team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"Who's overloaded this sprint?"</a:t>
            </a:r>
          </a:p>
          <a:p>
            <a:pPr>
              <a:spcAft>
                <a:spcPts val="14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"Generate the async standup for my team"</a:t>
            </a:r>
          </a:p>
          <a:p>
            <a:pPr>
              <a:spcAft>
                <a:spcPts val="14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"What's blocking the API migration Epic?"</a:t>
            </a:r>
          </a:p>
          <a:p>
            <a:pPr>
              <a:spcAft>
                <a:spcPts val="14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"Reassign Sarah's Tasks to Mike"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371600"/>
            <a:ext cx="347472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47472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Sarah — Enterprise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"Show me last week's permission changes"</a:t>
            </a:r>
          </a:p>
          <a:p>
            <a:pPr>
              <a:spcAft>
                <a:spcPts val="14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"Which integrations access our Workspace?"</a:t>
            </a:r>
          </a:p>
          <a:p>
            <a:pPr>
              <a:spcAft>
                <a:spcPts val="14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"Generate a security review for the board"</a:t>
            </a:r>
          </a:p>
          <a:p>
            <a:pPr>
              <a:spcAft>
                <a:spcPts val="14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Compliance and audit via conversation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1: "Ask TaskFlow" (Weeks 1-4)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4114800" cy="4572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161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QUICK WIN — Read-Only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Chat sidebar accessible from every page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Natural language queries about Tasks, Epics, team members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Timezone-aware responses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Keyboard shortcut (Cmd+K) to open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Streaming responses for perceived speed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Resources &amp;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b="1" sz="1800">
                <a:solidFill>
                  <a:srgbClr val="1A1A1A"/>
                </a:solidFill>
                <a:latin typeface="Calibri"/>
              </a:rPr>
              <a:t>Team:</a:t>
            </a:r>
            <a:r>
              <a:rPr sz="1800">
                <a:solidFill>
                  <a:srgbClr val="1A1A1A"/>
                </a:solidFill>
                <a:latin typeface="Calibri"/>
              </a:rPr>
              <a:t> 2 engineers + 1 designer</a:t>
            </a:r>
          </a:p>
          <a:p>
            <a:pPr>
              <a:spcAft>
                <a:spcPts val="800"/>
              </a:spcAft>
              <a:defRPr sz="1800"/>
            </a:pPr>
            <a:r>
              <a:rPr b="1" sz="1800">
                <a:solidFill>
                  <a:srgbClr val="1A1A1A"/>
                </a:solidFill>
                <a:latin typeface="Calibri"/>
              </a:rPr>
              <a:t>Effort:</a:t>
            </a:r>
            <a:r>
              <a:rPr sz="1800">
                <a:solidFill>
                  <a:srgbClr val="1A1A1A"/>
                </a:solidFill>
                <a:latin typeface="Calibri"/>
              </a:rPr>
              <a:t> 4 weeks</a:t>
            </a:r>
          </a:p>
          <a:p>
            <a:pPr>
              <a:spcAft>
                <a:spcPts val="800"/>
              </a:spcAft>
              <a:defRPr sz="1800"/>
            </a:pPr>
            <a:r>
              <a:rPr b="1" sz="1800">
                <a:solidFill>
                  <a:srgbClr val="1A1A1A"/>
                </a:solidFill>
                <a:latin typeface="Calibri"/>
              </a:rPr>
              <a:t>Cost:</a:t>
            </a:r>
            <a:r>
              <a:rPr sz="1800">
                <a:solidFill>
                  <a:srgbClr val="1A1A1A"/>
                </a:solidFill>
                <a:latin typeface="Calibri"/>
              </a:rPr>
              <a:t> ~$40K + ~$2K/mo LLM API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  <a:defRPr sz="1800"/>
            </a:pPr>
            <a:r>
              <a:rPr b="1" sz="1800">
                <a:solidFill>
                  <a:srgbClr val="1A1A1A"/>
                </a:solidFill>
                <a:latin typeface="Calibri"/>
              </a:rPr>
              <a:t>Success Metrics:</a:t>
            </a:r>
            <a:r>
              <a:rPr sz="18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30% of users try chat in Week 1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10% weekly active chat users by Week 4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Feature NPS &gt;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2: "Assist Actions" (Weeks 5-10)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161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DIFFERENTIATOR — AI That Acts, Not Just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Create Tasks via chat with full context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Update status, reassign, bulk operations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Async standup generation (timezone-aware)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Smart suggestions for overdue Tasks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Confirmation UX for destructive actions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Full audit logging ("via TaskFlow Assist")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Resources &amp;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b="1" sz="1800">
                <a:solidFill>
                  <a:srgbClr val="1A1A1A"/>
                </a:solidFill>
                <a:latin typeface="Calibri"/>
              </a:rPr>
              <a:t>Team:</a:t>
            </a:r>
            <a:r>
              <a:rPr sz="1800">
                <a:solidFill>
                  <a:srgbClr val="1A1A1A"/>
                </a:solidFill>
                <a:latin typeface="Calibri"/>
              </a:rPr>
              <a:t> 3 engineers + 1 designer</a:t>
            </a:r>
          </a:p>
          <a:p>
            <a:pPr>
              <a:spcAft>
                <a:spcPts val="800"/>
              </a:spcAft>
              <a:defRPr sz="1800"/>
            </a:pPr>
            <a:r>
              <a:rPr b="1" sz="1800">
                <a:solidFill>
                  <a:srgbClr val="1A1A1A"/>
                </a:solidFill>
                <a:latin typeface="Calibri"/>
              </a:rPr>
              <a:t>Effort:</a:t>
            </a:r>
            <a:r>
              <a:rPr sz="1800">
                <a:solidFill>
                  <a:srgbClr val="1A1A1A"/>
                </a:solidFill>
                <a:latin typeface="Calibri"/>
              </a:rPr>
              <a:t> 6 weeks</a:t>
            </a:r>
          </a:p>
          <a:p>
            <a:pPr>
              <a:spcAft>
                <a:spcPts val="800"/>
              </a:spcAft>
              <a:defRPr sz="1800"/>
            </a:pPr>
            <a:r>
              <a:rPr b="1" sz="1800">
                <a:solidFill>
                  <a:srgbClr val="1A1A1A"/>
                </a:solidFill>
                <a:latin typeface="Calibri"/>
              </a:rPr>
              <a:t>Cost:</a:t>
            </a:r>
            <a:r>
              <a:rPr sz="1800">
                <a:solidFill>
                  <a:srgbClr val="1A1A1A"/>
                </a:solidFill>
                <a:latin typeface="Calibri"/>
              </a:rPr>
              <a:t> ~$70K + ~$5K/mo LLM API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  <a:defRPr sz="1800"/>
            </a:pPr>
            <a:r>
              <a:rPr b="1" sz="1800">
                <a:solidFill>
                  <a:srgbClr val="1A1A1A"/>
                </a:solidFill>
                <a:latin typeface="Calibri"/>
              </a:rPr>
              <a:t>Success Metrics:</a:t>
            </a:r>
            <a:r>
              <a:rPr sz="18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20% of Tasks created via chat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Time-to-create-task reduced 50%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Standup adoption &gt; 40% of teams (3+)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  <a:latin typeface="Calibri"/>
              </a:defRPr>
            </a:pPr>
            <a:r>
              <a:t>This is where we leapfrog Monday.com and Notion — their AI can query but cannot 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 3: "Remote Intelligence" (Weeks 11-14)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41148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161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MOAT — Features Only We Can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73152" cy="731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Timezone Handoff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End-of-day summary for NYC, prepped for London team starting tomorrow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73152" cy="731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Workload Balancing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"Team is at 120% capacity. Here's a rebalancing suggestion."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49039"/>
            <a:ext cx="73152" cy="731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Cross-Tool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690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Slack + GitHub integration — "PR merged, mark Task done?"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73152" cy="731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Team Health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83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"Mike hasn't updated Tasks in 3 days. Check in?"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577840"/>
            <a:ext cx="73152" cy="731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577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Meeting-to-Tasks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97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Paste notes, AI extracts Tasks with assignees automatically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Resources &amp;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b="1" sz="1800">
                <a:solidFill>
                  <a:srgbClr val="1A1A1A"/>
                </a:solidFill>
                <a:latin typeface="Calibri"/>
              </a:rPr>
              <a:t>Team:</a:t>
            </a:r>
            <a:r>
              <a:rPr sz="1800">
                <a:solidFill>
                  <a:srgbClr val="1A1A1A"/>
                </a:solidFill>
                <a:latin typeface="Calibri"/>
              </a:rPr>
              <a:t> 3 engineers + 1 designer</a:t>
            </a:r>
          </a:p>
          <a:p>
            <a:pPr>
              <a:spcAft>
                <a:spcPts val="800"/>
              </a:spcAft>
              <a:defRPr sz="1800"/>
            </a:pPr>
            <a:r>
              <a:rPr b="1" sz="1800">
                <a:solidFill>
                  <a:srgbClr val="1A1A1A"/>
                </a:solidFill>
                <a:latin typeface="Calibri"/>
              </a:rPr>
              <a:t>Effort:</a:t>
            </a:r>
            <a:r>
              <a:rPr sz="1800">
                <a:solidFill>
                  <a:srgbClr val="1A1A1A"/>
                </a:solidFill>
                <a:latin typeface="Calibri"/>
              </a:rPr>
              <a:t> 4 weeks</a:t>
            </a:r>
          </a:p>
          <a:p>
            <a:pPr>
              <a:spcAft>
                <a:spcPts val="800"/>
              </a:spcAft>
              <a:defRPr sz="1800"/>
            </a:pPr>
            <a:r>
              <a:rPr b="1" sz="1800">
                <a:solidFill>
                  <a:srgbClr val="1A1A1A"/>
                </a:solidFill>
                <a:latin typeface="Calibri"/>
              </a:rPr>
              <a:t>Cost:</a:t>
            </a:r>
            <a:r>
              <a:rPr sz="1800">
                <a:solidFill>
                  <a:srgbClr val="1A1A1A"/>
                </a:solidFill>
                <a:latin typeface="Calibri"/>
              </a:rPr>
              <a:t> ~$40K + ~$3K/mo infra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  <a:defRPr sz="1800"/>
            </a:pPr>
            <a:r>
              <a:rPr b="1" sz="1800">
                <a:solidFill>
                  <a:srgbClr val="1A1A1A"/>
                </a:solidFill>
                <a:latin typeface="Calibri"/>
              </a:rPr>
              <a:t>Success Metrics:</a:t>
            </a:r>
            <a:r>
              <a:rPr sz="18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Cross-tool adoption &gt; 25% paid Workspaces</a:t>
            </a:r>
          </a:p>
          <a:p>
            <a:pPr>
              <a:spcAft>
                <a:spcPts val="800"/>
              </a:spcAft>
              <a:defRPr sz="1800"/>
            </a:pPr>
            <a:r>
              <a:rPr b="1" sz="1800">
                <a:solidFill>
                  <a:srgbClr val="1A1A1A"/>
                </a:solidFill>
                <a:latin typeface="Calibri"/>
              </a:rPr>
              <a:t>Handoff reports:</a:t>
            </a:r>
            <a:r>
              <a:rPr sz="1800">
                <a:solidFill>
                  <a:srgbClr val="1A1A1A"/>
                </a:solidFill>
                <a:latin typeface="Calibri"/>
              </a:rPr>
              <a:t> 30% of multi-TZ teams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"Unique" in &gt; 50% competitive wins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14-Week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3008376" cy="10972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3008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Phase 1: Ask TaskFlow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3008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Weeks 1-4  |  Read-Only 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3831336" y="2011680"/>
            <a:ext cx="4507992" cy="10972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31336" y="2148840"/>
            <a:ext cx="4507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Phase 2: Assist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1336" y="2514600"/>
            <a:ext cx="4507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Weeks 5-10  |  AI Takes 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39328" y="2011680"/>
            <a:ext cx="2999232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Phase 3: Remote Intel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2514600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Weeks 11-14  |  Moat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Total: 14 weeks  |  3 engineers + 1 designer  |  ~$150K engineering  |  ~$10K/mo ongoing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438912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Phase 1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Phase 3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Backend Engineer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LLM integration, API, data 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Frontend Engineer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Chat UI, sidebar, streaming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Designer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Chat UX, confirmation flows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Requirements, research, metrics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Risk Assessment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18872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Likelihood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LLM hallucination creates wrong Tasks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Confirmation before write actions; audit logging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Users don't adopt chat UX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Phase 1 validates demand before Phase 2-3 investment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Competitor ships faster/better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"Remote teams" angle is hard to copy quickly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LLM costs spike unexpectedly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Rate limiting, caching, usage-based pricing option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Enterprise security concerns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SOC 2, data processing agreements, admin controls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Engineering timeline slips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Phases are independently valuable; Phase 1 is small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Competitive Response Timing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8463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Competitor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Their Move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Our Response</a:t>
                      </a:r>
                    </a:p>
                  </a:txBody>
                  <a:tcPr anchor="ctr">
                    <a:solidFill>
                      <a:srgbClr val="007A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New entrant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Just launched chat-with-todos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Phase 1 matches in 4 weeks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Monday.com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Ask monday (read-only)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Phase 2 leapfrogs at Week 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ClickUp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Brain + Chat (most integrated)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Phase 3 differentiates at Week 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Asana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AI Teammates (autonomous agents)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Phase 3 Remote Intelligence competes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Notion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Document-focused AI Q&amp;A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Phase 1 already differentiated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Linear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Not pursuing AI chat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Calibri"/>
                        </a:rPr>
                        <a:t>Not a direct threat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Go-to-Market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Launch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7315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Week 4 — Phase 1: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Blog post + in-app announcement. Counter competitor narrative.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73152" cy="7315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Week 10 — Phase 2: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Press release + demo video. "First AI that manages Tasks, not just answers."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73152" cy="7315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Week 14 — Phase 3: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Thought leadership + case studies. Own "AI for remote teams" category.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280160"/>
            <a:ext cx="5029200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280160"/>
            <a:ext cx="5029200" cy="73152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Calibri"/>
              </a:defRPr>
            </a:pPr>
            <a:r>
              <a:t>Pricing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Phase 1 (read-only chat): Include in ALL paid tiers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Phase 2-3 (actions, cross-tool): Pro tier or $5/user/mo add-on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Undercut competitors: $5 vs ClickUp $7, Monday $19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Match Notion's bundling strategy for base AI</a:t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  <a:defRPr sz="1800"/>
            </a:pPr>
            <a:r>
              <a:rPr sz="1800">
                <a:solidFill>
                  <a:srgbClr val="1A1A1A"/>
                </a:solidFill>
                <a:latin typeface="Calibri"/>
              </a:rPr>
              <a:t>Goal: Drive adoption first, monetize depth later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Decision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73152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7B"/>
                </a:solidFill>
                <a:latin typeface="Calibri"/>
              </a:defRPr>
            </a:pPr>
            <a:r>
              <a:t>If we approve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Phase 1 ships in 4 weeks — immediate competitive response</a:t>
            </a:r>
          </a:p>
          <a:p>
            <a:pPr>
              <a:spcAft>
                <a:spcPts val="16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Phase 2 ships in 10 weeks — leapfrog read-only competitors</a:t>
            </a:r>
          </a:p>
          <a:p>
            <a:pPr>
              <a:spcAft>
                <a:spcPts val="16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Phase 3 ships in 14 weeks — defensible moat for remote teams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4747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47472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If we delay 4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Competitor gains adoption momentum</a:t>
            </a:r>
          </a:p>
          <a:p>
            <a:pPr>
              <a:spcAft>
                <a:spcPts val="16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"Chat with tasks" becomes associated with them, not us</a:t>
            </a:r>
          </a:p>
          <a:p>
            <a:pPr>
              <a:spcAft>
                <a:spcPts val="16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Q2 roadmap gets compressed — higher opportunity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371600"/>
            <a:ext cx="34747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474720" cy="7315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Calibri"/>
              </a:defRPr>
            </a:pPr>
            <a:r>
              <a:t>If we don't build this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2860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AI chat becomes table-stakes within 6-12 months</a:t>
            </a:r>
          </a:p>
          <a:p>
            <a:pPr>
              <a:spcAft>
                <a:spcPts val="16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TaskFlow falls behind on core value prop enablement</a:t>
            </a:r>
          </a:p>
          <a:p>
            <a:pPr>
              <a:spcAft>
                <a:spcPts val="1600"/>
              </a:spcAft>
              <a:defRPr sz="1700"/>
            </a:pPr>
            <a:r>
              <a:rPr sz="1700">
                <a:solidFill>
                  <a:srgbClr val="1A1A1A"/>
                </a:solidFill>
                <a:latin typeface="Calibri"/>
              </a:rPr>
              <a:t>Harder to justify pricing as competitors bundle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97B"/>
                </a:solidFill>
                <a:latin typeface="Calibri"/>
              </a:defRPr>
            </a:pPr>
            <a:r>
              <a:t>Approve Phase 1 immediately.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Low risk. 2 engineers. 4 weeks. Competitive response within a month.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/>
            </a:pPr>
            <a:r>
              <a:rPr sz="2200">
                <a:solidFill>
                  <a:srgbClr val="FFFFFF"/>
                </a:solidFill>
                <a:latin typeface="Calibri"/>
              </a:rPr>
              <a:t>1.  Allocate 2 engineers + 0.5 designer starting next sprint</a:t>
            </a:r>
          </a:p>
          <a:p>
            <a:pPr>
              <a:spcAft>
                <a:spcPts val="2000"/>
              </a:spcAft>
              <a:defRPr sz="2200"/>
            </a:pPr>
            <a:r>
              <a:rPr sz="2200">
                <a:solidFill>
                  <a:srgbClr val="FFFFFF"/>
                </a:solidFill>
                <a:latin typeface="Calibri"/>
              </a:rPr>
              <a:t>2.  Approve $5K budget for LLM API costs (Phase 1)</a:t>
            </a:r>
          </a:p>
          <a:p>
            <a:pPr>
              <a:spcAft>
                <a:spcPts val="2000"/>
              </a:spcAft>
              <a:defRPr sz="2200"/>
            </a:pPr>
            <a:r>
              <a:rPr sz="2200">
                <a:solidFill>
                  <a:srgbClr val="FFFFFF"/>
                </a:solidFill>
                <a:latin typeface="Calibri"/>
              </a:rPr>
              <a:t>3.  Schedule Phase 1 retrospective at Week 5 to decide Phase 2 go/no-go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Gate Phase 2 on adoption: &gt;10% weekly active chat users by Week 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Supporting analysis: competitive-analysis.md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